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8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823960" y="-640080"/>
            <a:ext cx="3840480" cy="3840480"/>
          </a:xfrm>
          <a:prstGeom prst="ellipse">
            <a:avLst/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601200" y="137160"/>
            <a:ext cx="2286000" cy="2286000"/>
          </a:xfrm>
          <a:prstGeom prst="ellipse">
            <a:avLst/>
          </a:prstGeom>
          <a:solidFill>
            <a:srgbClr val="1F30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046720" y="1920240"/>
            <a:ext cx="3200400" cy="329184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732520" y="2423160"/>
            <a:ext cx="1828800" cy="2331720"/>
          </a:xfrm>
          <a:prstGeom prst="roundRect">
            <a:avLst>
              <a:gd fmla="val 16667" name="adj"/>
            </a:avLst>
          </a:prstGeom>
          <a:solidFill>
            <a:srgbClr val="0F182A"/>
          </a:solidFill>
          <a:ln cap="flat" cmpd="sng" w="9525">
            <a:solidFill>
              <a:srgbClr val="41D2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979408" y="2880360"/>
            <a:ext cx="201168" cy="201168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345168" y="2916936"/>
            <a:ext cx="914400" cy="109728"/>
          </a:xfrm>
          <a:prstGeom prst="roundRect">
            <a:avLst>
              <a:gd fmla="val 16667" name="adj"/>
            </a:avLst>
          </a:prstGeom>
          <a:solidFill>
            <a:srgbClr val="B4C1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979408" y="3456432"/>
            <a:ext cx="201168" cy="201168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345168" y="3493008"/>
            <a:ext cx="914400" cy="109728"/>
          </a:xfrm>
          <a:prstGeom prst="roundRect">
            <a:avLst>
              <a:gd fmla="val 16667" name="adj"/>
            </a:avLst>
          </a:prstGeom>
          <a:solidFill>
            <a:srgbClr val="B4C1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979408" y="4032504"/>
            <a:ext cx="201168" cy="201168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9345168" y="4069080"/>
            <a:ext cx="914400" cy="109728"/>
          </a:xfrm>
          <a:prstGeom prst="roundRect">
            <a:avLst>
              <a:gd fmla="val 16667" name="adj"/>
            </a:avLst>
          </a:prstGeom>
          <a:solidFill>
            <a:srgbClr val="B4C1D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77240" y="1417320"/>
            <a:ext cx="7132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Сайт для</a:t>
            </a:r>
            <a:br>
              <a:rPr b="1" i="0" lang="en-US" sz="35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5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внутренних опросов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22960" y="3383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Внутренний инструмент для сбора обратной связи сотрудников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22960" y="4754880"/>
            <a:ext cx="2971800" cy="566928"/>
          </a:xfrm>
          <a:prstGeom prst="roundRect">
            <a:avLst>
              <a:gd fmla="val 16667" name="adj"/>
            </a:avLst>
          </a:prstGeom>
          <a:solidFill>
            <a:srgbClr val="1F30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024128" y="4901184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Заказчик: ООО «Директум»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8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685800" y="502920"/>
            <a:ext cx="10789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" y="93268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Собирать обратную связь нужно безопасно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3232" y="1719072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В компании опросы помогают улучшать процессы и понимать потребности сотрудников.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13232" y="2743200"/>
            <a:ext cx="3456432" cy="242316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41832" y="2971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41832" y="341987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Много поводов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41957" y="4084822"/>
            <a:ext cx="29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Аттестация, обучение,</a:t>
            </a:r>
            <a:b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адаптация новичков,</a:t>
            </a:r>
            <a:b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увольнение и регулярные опросы.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535424" y="2743200"/>
            <a:ext cx="3456432" cy="242316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64024" y="2971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777749" y="3336082"/>
            <a:ext cx="297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Нет единого инструмента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764024" y="4084822"/>
            <a:ext cx="292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Опросы нужно создавать,</a:t>
            </a:r>
            <a:b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проводить и обрабатывать</a:t>
            </a:r>
            <a:b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в удобном внутреннем сервисе.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8357615" y="2743200"/>
            <a:ext cx="3456432" cy="242316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586215" y="2971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613640" y="341987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Конфиденциальность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586090" y="4084822"/>
            <a:ext cx="2926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Внешние формы не дают компании</a:t>
            </a:r>
            <a:r>
              <a:rPr lang="en-US">
                <a:solidFill>
                  <a:srgbClr val="B4C1D3"/>
                </a:solidFill>
              </a:rPr>
              <a:t> </a:t>
            </a: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нужного контроля над доступом</a:t>
            </a:r>
            <a:r>
              <a:rPr lang="en-US">
                <a:solidFill>
                  <a:srgbClr val="B4C1D3"/>
                </a:solidFill>
              </a:rPr>
              <a:t> </a:t>
            </a:r>
            <a:r>
              <a:rPr b="0" i="0" lang="en-US" sz="14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к персональным данным.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77240" y="5623560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Задача: дать компании собственный контролируемый канал для внутренних опросов.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8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/>
        </p:nvSpPr>
        <p:spPr>
          <a:xfrm>
            <a:off x="685800" y="502920"/>
            <a:ext cx="10789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85800" y="93268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Единый сайт для полного цикла опроса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13232" y="1719072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От создания анкеты до получения и экспорта результатов.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13232" y="2743200"/>
            <a:ext cx="2514600" cy="182880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14400" y="2944368"/>
            <a:ext cx="438912" cy="438912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3058664"/>
            <a:ext cx="4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4400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Создать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14400" y="400507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Опрос или шаблон</a:t>
            </a:r>
            <a:b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с вопросами и сроком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255263" y="343814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3593591" y="2743200"/>
            <a:ext cx="2514600" cy="182880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794759" y="2944368"/>
            <a:ext cx="438912" cy="438912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794759" y="3058664"/>
            <a:ext cx="4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794759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Пригласить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794759" y="400507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Отправить ссылку</a:t>
            </a:r>
            <a:b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сотрудникам по почте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135623" y="343814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473952" y="2743200"/>
            <a:ext cx="2514600" cy="182880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675120" y="2944368"/>
            <a:ext cx="438912" cy="438912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6675120" y="3058664"/>
            <a:ext cx="4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75120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Ответить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75120" y="400507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Пройти опрос</a:t>
            </a:r>
            <a:b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на внутреннем сайте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015984" y="343814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9354311" y="2743200"/>
            <a:ext cx="2514600" cy="182880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9555480" y="2944368"/>
            <a:ext cx="438912" cy="438912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9555480" y="3058664"/>
            <a:ext cx="4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555480" y="35844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Получить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555480" y="400507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Посмотреть доступные</a:t>
            </a:r>
            <a:b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результаты и экспорт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914400" y="5166360"/>
            <a:ext cx="10058400" cy="685800"/>
          </a:xfrm>
          <a:prstGeom prst="roundRect">
            <a:avLst>
              <a:gd fmla="val 16667" name="adj"/>
            </a:avLst>
          </a:prstGeom>
          <a:solidFill>
            <a:srgbClr val="1F30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143000" y="536752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Дополнительно: шаблоны опросов • загрузка сотрудников из Excel • автоматизация по событиям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8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/>
        </p:nvSpPr>
        <p:spPr>
          <a:xfrm>
            <a:off x="685800" y="502920"/>
            <a:ext cx="10789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ЦЕЛЕВАЯ АУДИТОРИЯ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85800" y="93268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Для сотрудников и тех, кто работает с обратной связью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713232" y="1719072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Доступ к функциям зависит от роли пользователя.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20" y="2743200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932688" y="2944368"/>
            <a:ext cx="91440" cy="749808"/>
          </a:xfrm>
          <a:prstGeom prst="roundRect">
            <a:avLst>
              <a:gd fmla="val 16667" name="adj"/>
            </a:avLst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188720" y="292608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Сотрудники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188720" y="3310128"/>
            <a:ext cx="4389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Проходят опросы и оставляют обратную связь.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6217920" y="2743200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419088" y="2944368"/>
            <a:ext cx="91440" cy="749808"/>
          </a:xfrm>
          <a:prstGeom prst="roundRect">
            <a:avLst>
              <a:gd fmla="val 16667" name="adj"/>
            </a:avLst>
          </a:prstGeom>
          <a:solidFill>
            <a:srgbClr val="FFB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675120" y="292608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HR-специалисты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675120" y="3310128"/>
            <a:ext cx="4389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Создают опросы, используют шаблоны и анализируют результаты.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731520" y="4251960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932688" y="4453128"/>
            <a:ext cx="91440" cy="749808"/>
          </a:xfrm>
          <a:prstGeom prst="roundRect">
            <a:avLst>
              <a:gd fmla="val 16667" name="adj"/>
            </a:avLst>
          </a:prstGeom>
          <a:solidFill>
            <a:srgbClr val="FF70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188720" y="4434840"/>
            <a:ext cx="438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Руководители подразделений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188720" y="4818888"/>
            <a:ext cx="43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Получают доступ к результатам в пределах своих полномочий</a:t>
            </a:r>
            <a:r>
              <a:rPr lang="en-US" sz="1200">
                <a:solidFill>
                  <a:srgbClr val="B4C1D3"/>
                </a:solidFill>
              </a:rPr>
              <a:t> и формируют обратную связь по подчиненным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6217920" y="4251960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6419088" y="4453128"/>
            <a:ext cx="91440" cy="749808"/>
          </a:xfrm>
          <a:prstGeom prst="roundRect">
            <a:avLst>
              <a:gd fmla="val 16667" name="adj"/>
            </a:avLst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675120" y="4434840"/>
            <a:ext cx="438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6F8FC"/>
                </a:solidFill>
              </a:rPr>
              <a:t>Технический администратор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675120" y="4818888"/>
            <a:ext cx="4389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Поддерживают список сотрудников и настройки сервиса.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8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685800" y="502920"/>
            <a:ext cx="10789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85800" y="932688"/>
            <a:ext cx="1078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Два участника </a:t>
            </a:r>
            <a:r>
              <a:rPr b="1" lang="en-US" sz="3000">
                <a:solidFill>
                  <a:srgbClr val="F6F8FC"/>
                </a:solidFill>
              </a:rPr>
              <a:t>-</a:t>
            </a:r>
            <a:r>
              <a:rPr b="1" i="0" lang="en-US" sz="30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 один общий результат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13232" y="1719072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4C1D3"/>
                </a:solidFill>
                <a:latin typeface="Arial"/>
                <a:ea typeface="Arial"/>
                <a:cs typeface="Arial"/>
                <a:sym typeface="Arial"/>
              </a:rPr>
              <a:t>Распределение обязанностей уточним вместе с руководителем.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960120" y="2743200"/>
            <a:ext cx="4800600" cy="196596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280160" y="3127248"/>
            <a:ext cx="868680" cy="868680"/>
          </a:xfrm>
          <a:prstGeom prst="ellipse">
            <a:avLst/>
          </a:prstGeom>
          <a:solidFill>
            <a:srgbClr val="41D2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1280160" y="337413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2377440" y="3408443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6F8FC"/>
                </a:solidFill>
              </a:rPr>
              <a:t>Данил Тепляков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6400800" y="2743200"/>
            <a:ext cx="4800600" cy="1965960"/>
          </a:xfrm>
          <a:prstGeom prst="roundRect">
            <a:avLst>
              <a:gd fmla="val 16667" name="adj"/>
            </a:avLst>
          </a:prstGeom>
          <a:solidFill>
            <a:srgbClr val="1926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720840" y="3127248"/>
            <a:ext cx="868680" cy="868680"/>
          </a:xfrm>
          <a:prstGeom prst="ellipse">
            <a:avLst/>
          </a:prstGeom>
          <a:solidFill>
            <a:srgbClr val="FFB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6720840" y="337413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8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818120" y="3415331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6F8FC"/>
                </a:solidFill>
              </a:rPr>
              <a:t>Сергей Балобанов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6F8FC"/>
                </a:solidFill>
                <a:latin typeface="Arial"/>
                <a:ea typeface="Arial"/>
                <a:cs typeface="Arial"/>
                <a:sym typeface="Arial"/>
              </a:rPr>
              <a:t>Заказчик: ООО «Директум»  •  Технологии: ASP.NET Core 8 и React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005840" y="571500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Результат: внутренний сервис для создания, проведения и обработки опросов.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1D2B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